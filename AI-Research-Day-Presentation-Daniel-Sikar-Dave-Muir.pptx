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85" r:id="rId2"/>
    <p:sldId id="286" r:id="rId3"/>
    <p:sldId id="287" r:id="rId4"/>
    <p:sldId id="295" r:id="rId5"/>
    <p:sldId id="296" r:id="rId6"/>
    <p:sldId id="297" r:id="rId7"/>
    <p:sldId id="298" r:id="rId8"/>
    <p:sldId id="299" r:id="rId9"/>
    <p:sldId id="302" r:id="rId10"/>
    <p:sldId id="303" r:id="rId11"/>
    <p:sldId id="30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03B98C-27EA-6290-5363-CC0D4CEC0E53}" v="115" dt="2026-06-18T20:43:23.0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6B7518-7C4A-4CD2-ACB5-0B2CC3B3464E}" type="datetimeFigureOut"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8794E3-4552-4FCD-9A4A-7A31D589EE6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928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E3CF5-0ACC-BF63-01D6-1B043F29E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0B383C-2820-7D67-AB27-8436AA3CA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74BBBB-BA1C-05E8-777C-101803E99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57766-177E-213C-DEE6-7E3257DEC6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091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2DC5B-1B15-C3B9-7DAC-E778BABD4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3FEBE-9E9E-362A-A041-5248374C49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8BF05D-8E49-4221-B6D7-5BBC9EE20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CE208-491D-9E52-DD89-5F5798BF6C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22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43579-838C-75E4-0516-EC8FB6041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50C7D6-BA69-C519-74BF-28614F3D6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5308E9-DEEF-A564-7F34-71E28686D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70D1F-AF14-F699-4D88-5E49F789B8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745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84A2E-9D4E-2837-BEB0-6245E5879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3CB92E-5326-99BF-D571-F4DF8301A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32575D-1ECA-67BC-0C21-3B6B503A7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E947B-EF72-7C3B-4623-9DED448F1C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628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F2450-06BF-5471-024F-2A12F5A83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FC663E-187F-D52D-44D7-3755F32EC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E9C365-AC0A-ED50-6802-A3F7B2D08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0F566-1723-20D5-4C89-469CC90B89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415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AA4B8-831D-0A06-D08D-6E19B84F0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98094C-CE07-9714-2501-75E69F343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0E0E4-CEE3-D279-E629-17481872C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8AD69-2793-DB22-3BC2-E1C8F2647D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618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C4582-90F6-F58F-D687-AE86F0D74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B217A-8F07-3F3C-7481-8AA45ED3E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4377C4-DD2E-5675-02E2-43274D838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44791-F307-AE84-58B5-4EAB57A5B6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63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0E704-CE7B-F425-D50A-D2F1B2084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088EA-38D3-C584-CA4A-77764E24D6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24B01D-8557-A4F6-9C69-F3AAFCDD2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4F978-3661-7FF5-5278-509CDE1119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35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492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techinasia.com/news/japans-nvidiabacked-sakana-ai-raises-214m" TargetMode="External"/><Relationship Id="rId5" Type="http://schemas.openxmlformats.org/officeDocument/2006/relationships/hyperlink" Target="https://sakana.ai/" TargetMode="External"/><Relationship Id="rId4" Type="http://schemas.openxmlformats.org/officeDocument/2006/relationships/hyperlink" Target="https://arxiv.org/abs/2408.06292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sheba/Library/CloudStorage/OneDrive-Personal/DITO/outputs/manual-20260602-ai-research-lightning/presentations/ai-research-lightning/assets/ppt/media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80360" y="10515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8C8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Lightning talk 10 | School of Science and Technology</a:t>
            </a:r>
            <a:endParaRPr lang="en-US" sz="1500"/>
          </a:p>
        </p:txBody>
      </p:sp>
      <p:sp>
        <p:nvSpPr>
          <p:cNvPr id="4" name="Shape 1"/>
          <p:cNvSpPr/>
          <p:nvPr/>
        </p:nvSpPr>
        <p:spPr>
          <a:xfrm>
            <a:off x="2880360" y="1572768"/>
            <a:ext cx="7772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2880360" y="1828800"/>
            <a:ext cx="8321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Hackathons as a Medium for Disseminating Agentic AI in Research</a:t>
            </a:r>
            <a:endParaRPr lang="en-US" sz="3400"/>
          </a:p>
        </p:txBody>
      </p:sp>
      <p:sp>
        <p:nvSpPr>
          <p:cNvPr id="6" name="Text 3"/>
          <p:cNvSpPr/>
          <p:nvPr/>
        </p:nvSpPr>
        <p:spPr>
          <a:xfrm>
            <a:off x="2880360" y="3749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i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Daniel Sikar and Dave Muir</a:t>
            </a:r>
            <a:endParaRPr lang="en-US" sz="2000"/>
          </a:p>
        </p:txBody>
      </p:sp>
      <p:sp>
        <p:nvSpPr>
          <p:cNvPr id="7" name="Text 4"/>
          <p:cNvSpPr/>
          <p:nvPr/>
        </p:nvSpPr>
        <p:spPr>
          <a:xfrm>
            <a:off x="2880360" y="45262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E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hackathons can disseminate agentic AI in research, education and workforce upskilling, illustrated through the Clinical AI Hackathon.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2697480" y="64282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D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Research Day | Lightning talks</a:t>
            </a:r>
            <a:endParaRPr lang="en-US" sz="8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sheba/Library/CloudStorage/OneDrive-Personal/DITO/outputs/manual-20260602-ai-research-lightning/presentations/ai-research-lightning/assets/csg-side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286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0" y="0"/>
            <a:ext cx="9905695" cy="6858000"/>
          </a:xfrm>
          <a:prstGeom prst="rect">
            <a:avLst/>
          </a:prstGeom>
          <a:solidFill>
            <a:srgbClr val="F7F3EF"/>
          </a:solidFill>
          <a:ln w="12700">
            <a:solidFill>
              <a:srgbClr val="F7F3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2286000" y="0"/>
            <a:ext cx="9905695" cy="1554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274320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Lightning talk 10 | Daniel Sikar and Dave Muir</a:t>
            </a:r>
            <a:endParaRPr lang="en-US" sz="950"/>
          </a:p>
        </p:txBody>
      </p:sp>
      <p:sp>
        <p:nvSpPr>
          <p:cNvPr id="6" name="Text 3"/>
          <p:cNvSpPr/>
          <p:nvPr/>
        </p:nvSpPr>
        <p:spPr>
          <a:xfrm>
            <a:off x="2743200" y="749808"/>
            <a:ext cx="8183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800" b="1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Agentic AI, where did it all begin?</a:t>
            </a:r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743200" y="1417320"/>
            <a:ext cx="81838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2846637" y="3106690"/>
            <a:ext cx="7223760" cy="1827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0"/>
            <a:endParaRPr lang="en-US" sz="2800" dirty="0">
              <a:cs typeface="Arial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743200" y="605332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Science and Technology | Hackathons as a Medium for Disseminating Agentic AI in Research</a:t>
            </a:r>
            <a:endParaRPr lang="en-US" sz="850"/>
          </a:p>
        </p:txBody>
      </p:sp>
      <p:sp>
        <p:nvSpPr>
          <p:cNvPr id="11" name="Text 8"/>
          <p:cNvSpPr/>
          <p:nvPr/>
        </p:nvSpPr>
        <p:spPr>
          <a:xfrm>
            <a:off x="2606040" y="64282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Research Day | Lightning talks</a:t>
            </a:r>
            <a:endParaRPr lang="en-US" sz="850"/>
          </a:p>
        </p:txBody>
      </p:sp>
      <p:pic>
        <p:nvPicPr>
          <p:cNvPr id="14" name="Picture 13" descr="A black and white image of a robot&#10;&#10;AI-generated content may be incorrect.">
            <a:extLst>
              <a:ext uri="{FF2B5EF4-FFF2-40B4-BE49-F238E27FC236}">
                <a16:creationId xmlns:a16="http://schemas.microsoft.com/office/drawing/2014/main" id="{02934473-895E-9026-C968-C7BB37D3BE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113" b="-202"/>
          <a:stretch>
            <a:fillRect/>
          </a:stretch>
        </p:blipFill>
        <p:spPr>
          <a:xfrm>
            <a:off x="2946772" y="1419733"/>
            <a:ext cx="7788587" cy="44305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sheba/Library/CloudStorage/OneDrive-Personal/DITO/outputs/manual-20260602-ai-research-lightning/presentations/ai-research-lightning/assets/csg-side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286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0" y="0"/>
            <a:ext cx="9905695" cy="6858000"/>
          </a:xfrm>
          <a:prstGeom prst="rect">
            <a:avLst/>
          </a:prstGeom>
          <a:solidFill>
            <a:srgbClr val="F7F3EF"/>
          </a:solidFill>
          <a:ln w="12700">
            <a:solidFill>
              <a:srgbClr val="F7F3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2286000" y="0"/>
            <a:ext cx="9905695" cy="1554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274320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Lightning talk 10 | Daniel Sikar and Dave Muir</a:t>
            </a:r>
            <a:endParaRPr lang="en-US" sz="950"/>
          </a:p>
        </p:txBody>
      </p:sp>
      <p:sp>
        <p:nvSpPr>
          <p:cNvPr id="6" name="Text 3"/>
          <p:cNvSpPr/>
          <p:nvPr/>
        </p:nvSpPr>
        <p:spPr>
          <a:xfrm>
            <a:off x="2743200" y="749808"/>
            <a:ext cx="8183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800" b="1" i="0" u="none" strike="noStrike" baseline="0">
                <a:solidFill>
                  <a:srgbClr val="000000"/>
                </a:solidFill>
                <a:latin typeface="Arial"/>
              </a:rPr>
              <a:t>Agentic AI, where did it all begin?</a:t>
            </a:r>
            <a:r>
              <a:rPr lang="en-US" sz="2800" b="0" i="0">
                <a:latin typeface="Arial"/>
              </a:rPr>
              <a:t>​</a:t>
            </a:r>
            <a:endParaRPr lang="en-US" sz="2700" b="1" dirty="0">
              <a:solidFill>
                <a:srgbClr val="1D1D1B"/>
              </a:solidFill>
              <a:cs typeface="Arial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743200" y="1417320"/>
            <a:ext cx="81838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3154680" y="30175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b="1" dirty="0">
              <a:solidFill>
                <a:srgbClr val="B5A9A1"/>
              </a:solidFill>
              <a:cs typeface="Arial"/>
            </a:endParaRPr>
          </a:p>
        </p:txBody>
      </p:sp>
      <p:sp>
        <p:nvSpPr>
          <p:cNvPr id="9" name="Text 6"/>
          <p:cNvSpPr/>
          <p:nvPr/>
        </p:nvSpPr>
        <p:spPr>
          <a:xfrm>
            <a:off x="3154680" y="3429000"/>
            <a:ext cx="7223760" cy="20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 u="sng">
                <a:solidFill>
                  <a:srgbClr val="595959"/>
                </a:solidFill>
                <a:cs typeface="Arial"/>
              </a:rPr>
              <a:t>Paper</a:t>
            </a:r>
            <a:endParaRPr lang="en-US" dirty="0">
              <a:solidFill>
                <a:srgbClr val="B5A9A1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B5A9A1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dirty="0" err="1">
                <a:solidFill>
                  <a:srgbClr val="595959"/>
                </a:solidFill>
                <a:cs typeface="Arial"/>
              </a:rPr>
              <a:t>ArXiv</a:t>
            </a:r>
            <a:r>
              <a:rPr lang="en-US" dirty="0">
                <a:solidFill>
                  <a:srgbClr val="595959"/>
                </a:solidFill>
                <a:cs typeface="Arial"/>
              </a:rPr>
              <a:t> -  [Submitted on 12 Aug </a:t>
            </a:r>
            <a:r>
              <a:rPr lang="en-US" b="1" dirty="0">
                <a:solidFill>
                  <a:srgbClr val="595959"/>
                </a:solidFill>
                <a:cs typeface="Arial"/>
              </a:rPr>
              <a:t>2024 </a:t>
            </a:r>
            <a:r>
              <a:rPr lang="en-US" dirty="0">
                <a:solidFill>
                  <a:srgbClr val="595959"/>
                </a:solidFill>
                <a:cs typeface="Arial"/>
              </a:rPr>
              <a:t>(v1), last revised 1 Sep 2024]</a:t>
            </a:r>
            <a:endParaRPr lang="en-US" dirty="0">
              <a:solidFill>
                <a:srgbClr val="B5A9A1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97A7"/>
                </a:solidFill>
                <a:cs typeface="Arial"/>
                <a:hlinkClick r:id="rId4"/>
              </a:rPr>
              <a:t>https://arxiv.org/abs/2408.06292</a:t>
            </a:r>
            <a:endParaRPr lang="en-US" dirty="0">
              <a:solidFill>
                <a:srgbClr val="B5A9A1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B5A9A1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 u="sng">
                <a:solidFill>
                  <a:srgbClr val="595959"/>
                </a:solidFill>
                <a:cs typeface="Arial"/>
              </a:rPr>
              <a:t>Company website</a:t>
            </a:r>
            <a:endParaRPr lang="en-US" dirty="0">
              <a:solidFill>
                <a:srgbClr val="B5A9A1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 dirty="0" err="1">
                <a:solidFill>
                  <a:srgbClr val="595959"/>
                </a:solidFill>
                <a:cs typeface="Arial"/>
              </a:rPr>
              <a:t>SakanaAI</a:t>
            </a:r>
            <a:r>
              <a:rPr lang="en-US" b="1" dirty="0">
                <a:solidFill>
                  <a:srgbClr val="595959"/>
                </a:solidFill>
                <a:cs typeface="Arial"/>
              </a:rPr>
              <a:t> </a:t>
            </a:r>
            <a:r>
              <a:rPr lang="en-US" dirty="0">
                <a:solidFill>
                  <a:srgbClr val="595959"/>
                </a:solidFill>
                <a:cs typeface="Arial"/>
              </a:rPr>
              <a:t>- </a:t>
            </a:r>
            <a:r>
              <a:rPr lang="en-US" dirty="0">
                <a:solidFill>
                  <a:srgbClr val="0097A7"/>
                </a:solidFill>
                <a:cs typeface="Arial"/>
                <a:hlinkClick r:id="rId5"/>
              </a:rPr>
              <a:t>https://sakana.ai/</a:t>
            </a:r>
            <a:endParaRPr lang="en-US">
              <a:solidFill>
                <a:srgbClr val="B5A9A1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B5A9A1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 u="sng">
                <a:solidFill>
                  <a:srgbClr val="595959"/>
                </a:solidFill>
                <a:cs typeface="Arial"/>
              </a:rPr>
              <a:t>News</a:t>
            </a:r>
            <a:endParaRPr lang="en-US" dirty="0">
              <a:solidFill>
                <a:srgbClr val="B5A9A1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595959"/>
                </a:solidFill>
                <a:cs typeface="Arial"/>
              </a:rPr>
              <a:t>“Japan’s NVIDIA-backed </a:t>
            </a:r>
            <a:r>
              <a:rPr lang="en-US" b="1">
                <a:solidFill>
                  <a:srgbClr val="595959"/>
                </a:solidFill>
                <a:cs typeface="Arial"/>
              </a:rPr>
              <a:t>Sakana AI raises $214m</a:t>
            </a:r>
            <a:r>
              <a:rPr lang="en-US">
                <a:solidFill>
                  <a:srgbClr val="595959"/>
                </a:solidFill>
                <a:cs typeface="Arial"/>
              </a:rPr>
              <a:t>”</a:t>
            </a:r>
            <a:endParaRPr lang="en-US" dirty="0">
              <a:solidFill>
                <a:srgbClr val="B5A9A1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595959"/>
                </a:solidFill>
                <a:cs typeface="Arial"/>
                <a:hlinkClick r:id="rId6"/>
              </a:rPr>
              <a:t>https://www.techinasia.com/news/japans-nvidiabacked-sakana-ai-raises-214m</a:t>
            </a:r>
            <a:endParaRPr lang="en-US">
              <a:cs typeface="Arial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743200" y="605332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Science and Technology | Hackathons as a Medium for Disseminating Agentic AI in Research</a:t>
            </a:r>
            <a:endParaRPr lang="en-US" sz="850"/>
          </a:p>
        </p:txBody>
      </p:sp>
      <p:sp>
        <p:nvSpPr>
          <p:cNvPr id="11" name="Text 8"/>
          <p:cNvSpPr/>
          <p:nvPr/>
        </p:nvSpPr>
        <p:spPr>
          <a:xfrm>
            <a:off x="2606040" y="64282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Research Day | Lightning talks</a:t>
            </a:r>
            <a:endParaRPr lang="en-US" sz="8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6C2FF8-AA3A-E3E5-BCD1-3910681BF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sheba/Library/CloudStorage/OneDrive-Personal/DITO/outputs/manual-20260602-ai-research-lightning/presentations/ai-research-lightning/assets/csg-sidebar.png">
            <a:extLst>
              <a:ext uri="{FF2B5EF4-FFF2-40B4-BE49-F238E27FC236}">
                <a16:creationId xmlns:a16="http://schemas.microsoft.com/office/drawing/2014/main" id="{DFA1F075-8B95-2091-A8C8-BCEBBCF2E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286000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F921C3B5-4B40-F3C7-1819-680D14F9884B}"/>
              </a:ext>
            </a:extLst>
          </p:cNvPr>
          <p:cNvSpPr/>
          <p:nvPr/>
        </p:nvSpPr>
        <p:spPr>
          <a:xfrm>
            <a:off x="2286000" y="0"/>
            <a:ext cx="9905695" cy="6858000"/>
          </a:xfrm>
          <a:prstGeom prst="rect">
            <a:avLst/>
          </a:prstGeom>
          <a:solidFill>
            <a:srgbClr val="F7F3EF"/>
          </a:solidFill>
          <a:ln w="12700">
            <a:solidFill>
              <a:srgbClr val="F7F3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8926D33-869D-D544-CC0B-C729F2C45C26}"/>
              </a:ext>
            </a:extLst>
          </p:cNvPr>
          <p:cNvSpPr/>
          <p:nvPr/>
        </p:nvSpPr>
        <p:spPr>
          <a:xfrm>
            <a:off x="2286000" y="0"/>
            <a:ext cx="9905695" cy="1554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26D71A8-2394-6EB9-3CF4-615221233D52}"/>
              </a:ext>
            </a:extLst>
          </p:cNvPr>
          <p:cNvSpPr/>
          <p:nvPr/>
        </p:nvSpPr>
        <p:spPr>
          <a:xfrm>
            <a:off x="274320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Lightning talk 10 | Daniel Sikar and Dave Muir</a:t>
            </a:r>
            <a:endParaRPr lang="en-US" sz="95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62B91A-B602-554A-482A-BA98422F0CAF}"/>
              </a:ext>
            </a:extLst>
          </p:cNvPr>
          <p:cNvSpPr/>
          <p:nvPr/>
        </p:nvSpPr>
        <p:spPr>
          <a:xfrm>
            <a:off x="2743200" y="749808"/>
            <a:ext cx="8183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800" b="1" i="0" u="none" strike="noStrike" baseline="0">
                <a:solidFill>
                  <a:srgbClr val="000000"/>
                </a:solidFill>
                <a:latin typeface="Arial"/>
              </a:rPr>
              <a:t>What is the AI Scientist?</a:t>
            </a:r>
            <a:r>
              <a:rPr lang="en-US" sz="2800" b="0" i="0">
                <a:latin typeface="Arial"/>
              </a:rPr>
              <a:t>​</a:t>
            </a:r>
            <a:endParaRPr lang="en-US" sz="2700" b="1" dirty="0">
              <a:solidFill>
                <a:srgbClr val="1D1D1B"/>
              </a:solidFill>
              <a:cs typeface="Arial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02DCA13-F8B4-0A6B-2FF7-BC74F767D734}"/>
              </a:ext>
            </a:extLst>
          </p:cNvPr>
          <p:cNvSpPr/>
          <p:nvPr/>
        </p:nvSpPr>
        <p:spPr>
          <a:xfrm>
            <a:off x="2670243" y="1279511"/>
            <a:ext cx="81838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6B32654-BE95-2836-9E0A-7702C2960253}"/>
              </a:ext>
            </a:extLst>
          </p:cNvPr>
          <p:cNvSpPr/>
          <p:nvPr/>
        </p:nvSpPr>
        <p:spPr>
          <a:xfrm>
            <a:off x="3154680" y="34290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250" dirty="0">
                <a:solidFill>
                  <a:srgbClr val="B5A9A1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b="1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Purpose</a:t>
            </a:r>
            <a:r>
              <a:rPr lang="en-US" sz="120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: The AI Scientist is designed to be the first comprehensive system for </a:t>
            </a:r>
            <a:r>
              <a:rPr lang="en-US" sz="1200" b="1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fully automated scientific discovery</a:t>
            </a:r>
            <a:endParaRPr lang="en-US" sz="1200">
              <a:solidFill>
                <a:srgbClr val="B5A9A1"/>
              </a:solidFill>
              <a:latin typeface="Arial"/>
              <a:ea typeface="Arial" pitchFamily="34" charset="-122"/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sz="1200" dirty="0">
              <a:solidFill>
                <a:srgbClr val="B5A9A1"/>
              </a:solidFill>
              <a:latin typeface="Arial" pitchFamily="34" charset="-122"/>
              <a:ea typeface="Arial" pitchFamily="34" charset="-122"/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Functionality</a:t>
            </a:r>
            <a:r>
              <a:rPr lang="en-US" sz="120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: It can generate </a:t>
            </a:r>
            <a:r>
              <a:rPr lang="en-US" sz="1200" b="1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novel</a:t>
            </a:r>
            <a:r>
              <a:rPr lang="en-US" sz="120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 research </a:t>
            </a:r>
            <a:r>
              <a:rPr lang="en-US" sz="1200" b="1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ideas</a:t>
            </a:r>
            <a:r>
              <a:rPr lang="en-US" sz="120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 (</a:t>
            </a:r>
            <a:r>
              <a:rPr lang="en-US" sz="1200" b="1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via Semantic Scholar API queries</a:t>
            </a:r>
            <a:r>
              <a:rPr lang="en-US" sz="120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), </a:t>
            </a:r>
            <a:r>
              <a:rPr lang="en-US" sz="1200" b="1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write code</a:t>
            </a:r>
            <a:r>
              <a:rPr lang="en-US" sz="1200" dirty="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(</a:t>
            </a:r>
            <a:r>
              <a:rPr lang="en-US" sz="1200" b="1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Aider</a:t>
            </a:r>
            <a:r>
              <a:rPr lang="en-US" sz="120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, same backbone as </a:t>
            </a:r>
            <a:r>
              <a:rPr lang="en-US" sz="1200" b="1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Coder</a:t>
            </a:r>
            <a:r>
              <a:rPr lang="en-US" sz="120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), execute experiments (via Python), visualize results, and author full scientific papers, complete with peer review, all autonomously.</a:t>
            </a:r>
            <a:endParaRPr lang="en-US" sz="1200" dirty="0">
              <a:solidFill>
                <a:srgbClr val="B5A9A1"/>
              </a:solidFill>
              <a:latin typeface="Arial"/>
              <a:ea typeface="Arial" pitchFamily="34" charset="-122"/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sz="1200" dirty="0">
              <a:solidFill>
                <a:srgbClr val="B5A9A1"/>
              </a:solidFill>
              <a:latin typeface="Arial" pitchFamily="34" charset="-122"/>
              <a:ea typeface="Arial" pitchFamily="34" charset="-122"/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Templates</a:t>
            </a:r>
            <a:r>
              <a:rPr lang="en-US" sz="1200" dirty="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: </a:t>
            </a:r>
            <a:r>
              <a:rPr lang="en-US" sz="1200" b="1" dirty="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Provides</a:t>
            </a:r>
            <a:r>
              <a:rPr lang="en-US" sz="1200" dirty="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b="1" dirty="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three</a:t>
            </a:r>
            <a:r>
              <a:rPr lang="en-US" sz="1200" dirty="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 foundational </a:t>
            </a:r>
            <a:r>
              <a:rPr lang="en-US" sz="1200" b="1" dirty="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templates</a:t>
            </a:r>
            <a:r>
              <a:rPr lang="en-US" sz="1200" dirty="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 for research in different domains: </a:t>
            </a:r>
            <a:r>
              <a:rPr lang="en-US" sz="1200" dirty="0" err="1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NanoGPT</a:t>
            </a:r>
            <a:r>
              <a:rPr lang="en-US" sz="1200" dirty="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 for transformer-based tasks, 2D Diffusion for generative model performance, and Grokking for studying generalization in neural networks.</a:t>
            </a:r>
            <a:endParaRPr lang="en-US" sz="1200" dirty="0">
              <a:solidFill>
                <a:srgbClr val="B5A9A1"/>
              </a:solidFill>
              <a:latin typeface="Arial"/>
              <a:ea typeface="Arial" pitchFamily="34" charset="-122"/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sz="1200" dirty="0">
              <a:solidFill>
                <a:srgbClr val="B5A9A1"/>
              </a:solidFill>
              <a:latin typeface="Arial" pitchFamily="34" charset="-122"/>
              <a:ea typeface="Arial" pitchFamily="34" charset="-122"/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System Requirements</a:t>
            </a:r>
            <a:r>
              <a:rPr lang="en-US" sz="1200" dirty="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: Designed for Linux with NVIDIA GPUs using CUDA and </a:t>
            </a:r>
            <a:r>
              <a:rPr lang="en-US" sz="1200" dirty="0" err="1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PyTorch</a:t>
            </a:r>
            <a:r>
              <a:rPr lang="en-US" sz="1200" dirty="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. CPU-only operation </a:t>
            </a:r>
            <a:r>
              <a:rPr lang="en-US" sz="1200" b="1" dirty="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in theory </a:t>
            </a:r>
            <a:r>
              <a:rPr lang="en-US" sz="1200" dirty="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is not feasible for the current templates due to computational demands. I ran it on Intel i5 processor.</a:t>
            </a:r>
            <a:endParaRPr lang="en-US" sz="1200" dirty="0">
              <a:solidFill>
                <a:srgbClr val="B5A9A1"/>
              </a:solidFill>
              <a:latin typeface="Arial"/>
              <a:ea typeface="Arial" pitchFamily="34" charset="-122"/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sz="1200" dirty="0">
              <a:solidFill>
                <a:srgbClr val="B5A9A1"/>
              </a:solidFill>
              <a:latin typeface="Arial" pitchFamily="34" charset="-122"/>
              <a:ea typeface="Arial" pitchFamily="34" charset="-122"/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Usage</a:t>
            </a:r>
            <a:r>
              <a:rPr lang="en-US" sz="120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: Users can run experiments by setting up the environment, preparing data, and executing scripts through command line interfaces. It supports various models like </a:t>
            </a:r>
            <a:r>
              <a:rPr lang="en-US" sz="1200" b="1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GPT-4o</a:t>
            </a:r>
            <a:r>
              <a:rPr lang="en-US" sz="120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 and </a:t>
            </a:r>
            <a:r>
              <a:rPr lang="en-US" sz="1200" b="1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Claude</a:t>
            </a:r>
            <a:r>
              <a:rPr lang="en-US" sz="1200" dirty="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b="1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Sonnet 3.5</a:t>
            </a:r>
            <a:r>
              <a:rPr lang="en-US" sz="120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, </a:t>
            </a:r>
            <a:r>
              <a:rPr lang="en-US" sz="1200" b="1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requiring</a:t>
            </a:r>
            <a:r>
              <a:rPr lang="en-US" sz="120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 respective </a:t>
            </a:r>
            <a:r>
              <a:rPr lang="en-US" sz="1200" b="1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API</a:t>
            </a:r>
            <a:r>
              <a:rPr lang="en-US" sz="1200" dirty="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1200" b="1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keys</a:t>
            </a:r>
            <a:r>
              <a:rPr lang="en-US" sz="120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 and</a:t>
            </a:r>
            <a:r>
              <a:rPr lang="en-US" sz="1200" b="1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 pre-paid credits</a:t>
            </a:r>
            <a:r>
              <a:rPr lang="en-US" sz="120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.</a:t>
            </a:r>
            <a:endParaRPr lang="en-US" sz="1200" dirty="0">
              <a:solidFill>
                <a:srgbClr val="B5A9A1"/>
              </a:solidFill>
              <a:latin typeface="Arial"/>
              <a:ea typeface="Arial" pitchFamily="34" charset="-122"/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sz="1200" dirty="0">
              <a:solidFill>
                <a:srgbClr val="B5A9A1"/>
              </a:solidFill>
              <a:latin typeface="Arial" pitchFamily="34" charset="-122"/>
              <a:ea typeface="Arial" pitchFamily="34" charset="-122"/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Safety and Deployment</a:t>
            </a:r>
            <a:r>
              <a:rPr lang="en-US" sz="120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: The project includes a </a:t>
            </a:r>
            <a:r>
              <a:rPr lang="en-US" sz="1200" b="1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Docker image</a:t>
            </a:r>
            <a:r>
              <a:rPr lang="en-US" sz="1200">
                <a:solidFill>
                  <a:srgbClr val="0F1419"/>
                </a:solidFill>
                <a:latin typeface="Arial"/>
                <a:ea typeface="Arial" pitchFamily="34" charset="-122"/>
                <a:cs typeface="Arial"/>
              </a:rPr>
              <a:t> for safer execution.</a:t>
            </a:r>
            <a:endParaRPr lang="en-US" sz="1250">
              <a:solidFill>
                <a:srgbClr val="B5A9A1"/>
              </a:solidFill>
              <a:latin typeface="Arial"/>
              <a:cs typeface="Arial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EA00382-3BD0-188F-AA93-AA7DA10F425E}"/>
              </a:ext>
            </a:extLst>
          </p:cNvPr>
          <p:cNvSpPr/>
          <p:nvPr/>
        </p:nvSpPr>
        <p:spPr>
          <a:xfrm>
            <a:off x="2743200" y="60127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Science and Technology | Hackathons as a Medium for Disseminating Agentic AI in Research</a:t>
            </a:r>
            <a:endParaRPr lang="en-US" sz="8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EE115B0-D0B5-0CD5-9B55-C6F6610C11C6}"/>
              </a:ext>
            </a:extLst>
          </p:cNvPr>
          <p:cNvSpPr/>
          <p:nvPr/>
        </p:nvSpPr>
        <p:spPr>
          <a:xfrm>
            <a:off x="2606040" y="64282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Research Day | Lightning talks</a:t>
            </a:r>
            <a:endParaRPr lang="en-US" sz="850"/>
          </a:p>
        </p:txBody>
      </p:sp>
    </p:spTree>
    <p:extLst>
      <p:ext uri="{BB962C8B-B14F-4D97-AF65-F5344CB8AC3E}">
        <p14:creationId xmlns:p14="http://schemas.microsoft.com/office/powerpoint/2010/main" val="3753423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93FD75-AEA0-45AC-94EF-B287D8762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sheba/Library/CloudStorage/OneDrive-Personal/DITO/outputs/manual-20260602-ai-research-lightning/presentations/ai-research-lightning/assets/csg-sidebar.png">
            <a:extLst>
              <a:ext uri="{FF2B5EF4-FFF2-40B4-BE49-F238E27FC236}">
                <a16:creationId xmlns:a16="http://schemas.microsoft.com/office/drawing/2014/main" id="{9AFDB05F-8E9D-FFC0-4D0C-A47A641D6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286000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960D5583-C4F3-B267-4AE9-6127027F1AB3}"/>
              </a:ext>
            </a:extLst>
          </p:cNvPr>
          <p:cNvSpPr/>
          <p:nvPr/>
        </p:nvSpPr>
        <p:spPr>
          <a:xfrm>
            <a:off x="2286000" y="0"/>
            <a:ext cx="9905695" cy="6858000"/>
          </a:xfrm>
          <a:prstGeom prst="rect">
            <a:avLst/>
          </a:prstGeom>
          <a:solidFill>
            <a:srgbClr val="F7F3EF"/>
          </a:solidFill>
          <a:ln w="12700">
            <a:solidFill>
              <a:srgbClr val="F7F3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C55BC905-160D-3DEF-21B4-8AA7080F0BF4}"/>
              </a:ext>
            </a:extLst>
          </p:cNvPr>
          <p:cNvSpPr/>
          <p:nvPr/>
        </p:nvSpPr>
        <p:spPr>
          <a:xfrm>
            <a:off x="2286000" y="0"/>
            <a:ext cx="9905695" cy="1554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000307A-0901-0B12-4A96-8EE182CF753F}"/>
              </a:ext>
            </a:extLst>
          </p:cNvPr>
          <p:cNvSpPr/>
          <p:nvPr/>
        </p:nvSpPr>
        <p:spPr>
          <a:xfrm>
            <a:off x="274320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Lightning talk 10 | Daniel Sikar and Dave Muir</a:t>
            </a:r>
            <a:endParaRPr lang="en-US" sz="95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EE8FE49-F45E-1207-2452-879323B37711}"/>
              </a:ext>
            </a:extLst>
          </p:cNvPr>
          <p:cNvSpPr/>
          <p:nvPr/>
        </p:nvSpPr>
        <p:spPr>
          <a:xfrm>
            <a:off x="2743200" y="749808"/>
            <a:ext cx="8183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800" b="1" i="0" u="none" strike="noStrike" baseline="0">
                <a:solidFill>
                  <a:srgbClr val="000000"/>
                </a:solidFill>
                <a:latin typeface="Arial"/>
              </a:rPr>
              <a:t>Agentic AI</a:t>
            </a:r>
            <a:r>
              <a:rPr lang="en-US" sz="2800" b="1">
                <a:solidFill>
                  <a:srgbClr val="000000"/>
                </a:solidFill>
                <a:latin typeface="Arial"/>
              </a:rPr>
              <a:t> – </a:t>
            </a:r>
            <a:r>
              <a:rPr lang="en-US" sz="2800" b="1">
                <a:latin typeface="Arial"/>
              </a:rPr>
              <a:t>2025/2026</a:t>
            </a:r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CAE5B8D-ED56-48B6-EEE8-29BB6E95BA34}"/>
              </a:ext>
            </a:extLst>
          </p:cNvPr>
          <p:cNvSpPr/>
          <p:nvPr/>
        </p:nvSpPr>
        <p:spPr>
          <a:xfrm>
            <a:off x="2743200" y="1417320"/>
            <a:ext cx="81838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411FF76-83D8-7A03-AA5E-7F28CFE914BF}"/>
              </a:ext>
            </a:extLst>
          </p:cNvPr>
          <p:cNvSpPr/>
          <p:nvPr/>
        </p:nvSpPr>
        <p:spPr>
          <a:xfrm>
            <a:off x="3154680" y="30175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b="1" dirty="0">
              <a:solidFill>
                <a:srgbClr val="B5A9A1"/>
              </a:solidFill>
              <a:cs typeface="Arial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3CD3E24-85EC-7FBD-DCE0-7871FF34C6F2}"/>
              </a:ext>
            </a:extLst>
          </p:cNvPr>
          <p:cNvSpPr/>
          <p:nvPr/>
        </p:nvSpPr>
        <p:spPr>
          <a:xfrm>
            <a:off x="3154680" y="3429000"/>
            <a:ext cx="7223760" cy="20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lang="en-US" b="1" u="sng" dirty="0">
              <a:solidFill>
                <a:srgbClr val="595959"/>
              </a:solidFill>
              <a:cs typeface="Arial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A384BB6-0864-B300-38C4-7E7A207228FD}"/>
              </a:ext>
            </a:extLst>
          </p:cNvPr>
          <p:cNvSpPr/>
          <p:nvPr/>
        </p:nvSpPr>
        <p:spPr>
          <a:xfrm>
            <a:off x="2743200" y="605332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Science and Technology | Hackathons as a Medium for Disseminating Agentic AI in Research</a:t>
            </a:r>
            <a:endParaRPr lang="en-US" sz="8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3CFD014-4BA4-2C49-7544-1E9EF543E07E}"/>
              </a:ext>
            </a:extLst>
          </p:cNvPr>
          <p:cNvSpPr/>
          <p:nvPr/>
        </p:nvSpPr>
        <p:spPr>
          <a:xfrm>
            <a:off x="2606040" y="64282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Research Day | Lightning talks</a:t>
            </a:r>
            <a:endParaRPr lang="en-US" sz="85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D9375EB-58C7-98D5-11A1-17014275EFF1}"/>
              </a:ext>
            </a:extLst>
          </p:cNvPr>
          <p:cNvGraphicFramePr>
            <a:graphicFrameLocks noGrp="1"/>
          </p:cNvGraphicFramePr>
          <p:nvPr/>
        </p:nvGraphicFramePr>
        <p:xfrm>
          <a:off x="3734813" y="1921537"/>
          <a:ext cx="6343650" cy="21717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71825">
                  <a:extLst>
                    <a:ext uri="{9D8B030D-6E8A-4147-A177-3AD203B41FA5}">
                      <a16:colId xmlns:a16="http://schemas.microsoft.com/office/drawing/2014/main" val="3501196850"/>
                    </a:ext>
                  </a:extLst>
                </a:gridCol>
                <a:gridCol w="3171825">
                  <a:extLst>
                    <a:ext uri="{9D8B030D-6E8A-4147-A177-3AD203B41FA5}">
                      <a16:colId xmlns:a16="http://schemas.microsoft.com/office/drawing/2014/main" val="3916933955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60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Provider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60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60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AI Agent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460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51687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6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Anthropic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60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6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Claude Code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460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86511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6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Google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6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Gemini CLI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56844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6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OpenAI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6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Codex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59214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6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XAI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6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Grok CLI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4407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6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Mistral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6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Mistral Vibe CLI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02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955427"/>
                  </a:ext>
                </a:extLst>
              </a:tr>
            </a:tbl>
          </a:graphicData>
        </a:graphic>
      </p:graphicFrame>
      <p:pic>
        <p:nvPicPr>
          <p:cNvPr id="18" name="Picture 17" descr="A text on a black background&#10;&#10;AI-generated content may be incorrect.">
            <a:extLst>
              <a:ext uri="{FF2B5EF4-FFF2-40B4-BE49-F238E27FC236}">
                <a16:creationId xmlns:a16="http://schemas.microsoft.com/office/drawing/2014/main" id="{B1CAC72B-6339-9272-9D10-75D6EE7252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29"/>
          <a:stretch>
            <a:fillRect/>
          </a:stretch>
        </p:blipFill>
        <p:spPr>
          <a:xfrm>
            <a:off x="3049925" y="4668871"/>
            <a:ext cx="1545912" cy="876300"/>
          </a:xfrm>
          <a:prstGeom prst="rect">
            <a:avLst/>
          </a:prstGeom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AF6E74-2D74-ACA5-C880-965BCBEA7BE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895748" y="4656003"/>
            <a:ext cx="1476375" cy="885825"/>
          </a:xfrm>
          <a:prstGeom prst="rect">
            <a:avLst/>
          </a:prstGeom>
        </p:spPr>
      </p:pic>
      <p:pic>
        <p:nvPicPr>
          <p:cNvPr id="20" name="Picture 19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4C5ECFCA-911F-A3ED-1B0F-39F9B3CBE00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-380"/>
          <a:stretch>
            <a:fillRect/>
          </a:stretch>
        </p:blipFill>
        <p:spPr>
          <a:xfrm>
            <a:off x="6698405" y="4656003"/>
            <a:ext cx="1768825" cy="885825"/>
          </a:xfrm>
          <a:prstGeom prst="rect">
            <a:avLst/>
          </a:prstGeom>
        </p:spPr>
      </p:pic>
      <p:pic>
        <p:nvPicPr>
          <p:cNvPr id="21" name="Picture 2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67C04C0-C19D-63CE-C218-743539F2264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377"/>
          <a:stretch>
            <a:fillRect/>
          </a:stretch>
        </p:blipFill>
        <p:spPr>
          <a:xfrm>
            <a:off x="8704026" y="4664109"/>
            <a:ext cx="1764965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375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8333C7-76A3-A1DE-E731-1264169ED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sheba/Library/CloudStorage/OneDrive-Personal/DITO/outputs/manual-20260602-ai-research-lightning/presentations/ai-research-lightning/assets/csg-sidebar.png">
            <a:extLst>
              <a:ext uri="{FF2B5EF4-FFF2-40B4-BE49-F238E27FC236}">
                <a16:creationId xmlns:a16="http://schemas.microsoft.com/office/drawing/2014/main" id="{5819D636-CAAF-FA34-4E81-9FD0EA456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286000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F1EEDD4-B722-B705-B072-9722EDB45212}"/>
              </a:ext>
            </a:extLst>
          </p:cNvPr>
          <p:cNvSpPr/>
          <p:nvPr/>
        </p:nvSpPr>
        <p:spPr>
          <a:xfrm>
            <a:off x="2286000" y="0"/>
            <a:ext cx="9905695" cy="6858000"/>
          </a:xfrm>
          <a:prstGeom prst="rect">
            <a:avLst/>
          </a:prstGeom>
          <a:solidFill>
            <a:srgbClr val="F7F3EF"/>
          </a:solidFill>
          <a:ln w="12700">
            <a:solidFill>
              <a:srgbClr val="F7F3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FBCE782-583A-5D1D-8291-DC0AA0465CDC}"/>
              </a:ext>
            </a:extLst>
          </p:cNvPr>
          <p:cNvSpPr/>
          <p:nvPr/>
        </p:nvSpPr>
        <p:spPr>
          <a:xfrm>
            <a:off x="2286000" y="0"/>
            <a:ext cx="9905695" cy="1554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ACCDC7E-D8FA-E855-6402-F27633166700}"/>
              </a:ext>
            </a:extLst>
          </p:cNvPr>
          <p:cNvSpPr/>
          <p:nvPr/>
        </p:nvSpPr>
        <p:spPr>
          <a:xfrm>
            <a:off x="274320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Lightning talk 10 | Daniel Sikar and Dave Muir</a:t>
            </a:r>
            <a:endParaRPr lang="en-US" sz="95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907FC61-84EF-2ACF-74BF-07A0DD97CC27}"/>
              </a:ext>
            </a:extLst>
          </p:cNvPr>
          <p:cNvSpPr/>
          <p:nvPr/>
        </p:nvSpPr>
        <p:spPr>
          <a:xfrm>
            <a:off x="2743200" y="749808"/>
            <a:ext cx="8183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800" b="1" i="0" u="none" strike="noStrike" baseline="0">
                <a:solidFill>
                  <a:srgbClr val="000000"/>
                </a:solidFill>
                <a:latin typeface="Arial"/>
              </a:rPr>
              <a:t>AI</a:t>
            </a:r>
            <a:r>
              <a:rPr lang="en-US" sz="2800" b="1">
                <a:solidFill>
                  <a:srgbClr val="000000"/>
                </a:solidFill>
                <a:latin typeface="Arial"/>
              </a:rPr>
              <a:t> Workflow &lt;= 2024</a:t>
            </a:r>
            <a:endParaRPr lang="en-US" sz="2800">
              <a:latin typeface="Arial"/>
              <a:cs typeface="Arial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2EF05A8-70A4-D9FC-4FF9-3433A9AAEBA8}"/>
              </a:ext>
            </a:extLst>
          </p:cNvPr>
          <p:cNvSpPr/>
          <p:nvPr/>
        </p:nvSpPr>
        <p:spPr>
          <a:xfrm>
            <a:off x="2743200" y="1417320"/>
            <a:ext cx="81838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AB01BF2-72F1-AB5D-EE11-6FD0B63DC1CD}"/>
              </a:ext>
            </a:extLst>
          </p:cNvPr>
          <p:cNvSpPr/>
          <p:nvPr/>
        </p:nvSpPr>
        <p:spPr>
          <a:xfrm>
            <a:off x="3154680" y="30175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b="1" dirty="0">
              <a:solidFill>
                <a:srgbClr val="B5A9A1"/>
              </a:solidFill>
              <a:cs typeface="Arial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8CE3C64-8634-85D4-BE93-2B866FDA84C3}"/>
              </a:ext>
            </a:extLst>
          </p:cNvPr>
          <p:cNvSpPr/>
          <p:nvPr/>
        </p:nvSpPr>
        <p:spPr>
          <a:xfrm>
            <a:off x="3154680" y="3429000"/>
            <a:ext cx="7223760" cy="20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00"/>
                </a:solidFill>
                <a:cs typeface="Arial"/>
              </a:rPr>
              <a:t>              Copilot</a:t>
            </a:r>
            <a:r>
              <a:rPr lang="en-US">
                <a:solidFill>
                  <a:srgbClr val="000000"/>
                </a:solidFill>
                <a:cs typeface="Arial"/>
              </a:rPr>
              <a:t>                               </a:t>
            </a:r>
            <a:r>
              <a:rPr lang="en-US" b="1">
                <a:solidFill>
                  <a:srgbClr val="000000"/>
                </a:solidFill>
                <a:cs typeface="Arial"/>
              </a:rPr>
              <a:t>Browser-based AI Chatbot</a:t>
            </a:r>
            <a:endParaRPr lang="en-US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cs typeface="Arial"/>
              </a:rPr>
              <a:t>            # Comment                                          Prompt  </a:t>
            </a:r>
            <a:endParaRPr lang="en-US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cs typeface="Arial"/>
              </a:rPr>
              <a:t>   </a:t>
            </a:r>
            <a:endParaRPr lang="en-US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cs typeface="Arial"/>
              </a:rPr>
              <a:t>                 Code                                               Output</a:t>
            </a:r>
            <a:endParaRPr lang="en-US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cs typeface="Arial"/>
              </a:rPr>
              <a:t>                                                                  CTRL-C CTRL-V</a:t>
            </a:r>
            <a:endParaRPr lang="en-US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cs typeface="Arial"/>
              </a:rPr>
              <a:t>                                                                       Local file</a:t>
            </a:r>
            <a:endParaRPr lang="en-US">
              <a:solidFill>
                <a:srgbClr val="595959"/>
              </a:solidFill>
              <a:cs typeface="Arial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2189E7C-ACFB-2C7E-425F-ACE664B42FB8}"/>
              </a:ext>
            </a:extLst>
          </p:cNvPr>
          <p:cNvSpPr/>
          <p:nvPr/>
        </p:nvSpPr>
        <p:spPr>
          <a:xfrm>
            <a:off x="2743200" y="605332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Science and Technology | Hackathons as a Medium for Disseminating Agentic AI in Research</a:t>
            </a:r>
            <a:endParaRPr lang="en-US" sz="8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91E1A9B-8BF3-4614-33D3-32BDFE8E4090}"/>
              </a:ext>
            </a:extLst>
          </p:cNvPr>
          <p:cNvSpPr/>
          <p:nvPr/>
        </p:nvSpPr>
        <p:spPr>
          <a:xfrm>
            <a:off x="2606040" y="64282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Research Day | Lightning talks</a:t>
            </a:r>
            <a:endParaRPr lang="en-US" sz="85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65104005-EC13-33D1-ED71-9E3460893DF1}"/>
              </a:ext>
            </a:extLst>
          </p:cNvPr>
          <p:cNvSpPr/>
          <p:nvPr/>
        </p:nvSpPr>
        <p:spPr>
          <a:xfrm>
            <a:off x="4328059" y="2890663"/>
            <a:ext cx="411534" cy="460071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6C475B6F-B30D-E382-632A-46FAEFAA722B}"/>
              </a:ext>
            </a:extLst>
          </p:cNvPr>
          <p:cNvSpPr/>
          <p:nvPr/>
        </p:nvSpPr>
        <p:spPr>
          <a:xfrm>
            <a:off x="7919186" y="2890662"/>
            <a:ext cx="411534" cy="460071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821D3145-745F-9A42-0ACA-081AE7D31BE5}"/>
              </a:ext>
            </a:extLst>
          </p:cNvPr>
          <p:cNvSpPr/>
          <p:nvPr/>
        </p:nvSpPr>
        <p:spPr>
          <a:xfrm>
            <a:off x="7919185" y="3766150"/>
            <a:ext cx="411534" cy="460071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B8370E68-8DC3-F02D-5064-AE49CD9D781E}"/>
              </a:ext>
            </a:extLst>
          </p:cNvPr>
          <p:cNvSpPr/>
          <p:nvPr/>
        </p:nvSpPr>
        <p:spPr>
          <a:xfrm>
            <a:off x="7919184" y="4544362"/>
            <a:ext cx="411534" cy="460071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850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B6EAE0-5607-768B-2109-B33998612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sheba/Library/CloudStorage/OneDrive-Personal/DITO/outputs/manual-20260602-ai-research-lightning/presentations/ai-research-lightning/assets/csg-sidebar.png">
            <a:extLst>
              <a:ext uri="{FF2B5EF4-FFF2-40B4-BE49-F238E27FC236}">
                <a16:creationId xmlns:a16="http://schemas.microsoft.com/office/drawing/2014/main" id="{3D610FF2-A4DA-BA25-4E3F-A43C1E7EB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286000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3134144E-9E24-6CFD-7D26-DE2DCCC5987D}"/>
              </a:ext>
            </a:extLst>
          </p:cNvPr>
          <p:cNvSpPr/>
          <p:nvPr/>
        </p:nvSpPr>
        <p:spPr>
          <a:xfrm>
            <a:off x="2286000" y="0"/>
            <a:ext cx="9905695" cy="6858000"/>
          </a:xfrm>
          <a:prstGeom prst="rect">
            <a:avLst/>
          </a:prstGeom>
          <a:solidFill>
            <a:srgbClr val="F7F3EF"/>
          </a:solidFill>
          <a:ln w="12700">
            <a:solidFill>
              <a:srgbClr val="F7F3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CF54571C-0529-2078-E75F-B89978913F6A}"/>
              </a:ext>
            </a:extLst>
          </p:cNvPr>
          <p:cNvSpPr/>
          <p:nvPr/>
        </p:nvSpPr>
        <p:spPr>
          <a:xfrm>
            <a:off x="2286000" y="0"/>
            <a:ext cx="9905695" cy="1554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D4BD39A-68C1-7A58-6E92-3E360A681728}"/>
              </a:ext>
            </a:extLst>
          </p:cNvPr>
          <p:cNvSpPr/>
          <p:nvPr/>
        </p:nvSpPr>
        <p:spPr>
          <a:xfrm>
            <a:off x="274320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Lightning talk 10 | Daniel Sikar and Dave Muir</a:t>
            </a:r>
            <a:endParaRPr lang="en-US" sz="95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BD37C65-46CA-3A33-EEC2-EE27971A35B1}"/>
              </a:ext>
            </a:extLst>
          </p:cNvPr>
          <p:cNvSpPr/>
          <p:nvPr/>
        </p:nvSpPr>
        <p:spPr>
          <a:xfrm>
            <a:off x="2743200" y="749808"/>
            <a:ext cx="8183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800" b="1" i="0" u="none" strike="noStrike" baseline="0" dirty="0">
                <a:solidFill>
                  <a:srgbClr val="000000"/>
                </a:solidFill>
                <a:latin typeface="Arial"/>
              </a:rPr>
              <a:t>Agentic AI</a:t>
            </a:r>
            <a:r>
              <a:rPr lang="en-US" sz="2800" b="1" dirty="0">
                <a:solidFill>
                  <a:srgbClr val="000000"/>
                </a:solidFill>
                <a:latin typeface="Arial"/>
              </a:rPr>
              <a:t> Workflow &gt;= </a:t>
            </a:r>
            <a:r>
              <a:rPr lang="en-US" sz="2800" b="1">
                <a:latin typeface="Arial"/>
              </a:rPr>
              <a:t>2024</a:t>
            </a:r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1E337AE-C463-75AF-5027-6ACD0D65E148}"/>
              </a:ext>
            </a:extLst>
          </p:cNvPr>
          <p:cNvSpPr/>
          <p:nvPr/>
        </p:nvSpPr>
        <p:spPr>
          <a:xfrm>
            <a:off x="2743200" y="1417320"/>
            <a:ext cx="81838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A935F3A-6FB2-407A-ECE5-8D7FC6BD77DF}"/>
              </a:ext>
            </a:extLst>
          </p:cNvPr>
          <p:cNvSpPr/>
          <p:nvPr/>
        </p:nvSpPr>
        <p:spPr>
          <a:xfrm>
            <a:off x="3154680" y="30175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b="1" dirty="0">
              <a:solidFill>
                <a:srgbClr val="B5A9A1"/>
              </a:solidFill>
              <a:cs typeface="Arial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9C30BC2-81C6-1691-B007-03E8DA5DD753}"/>
              </a:ext>
            </a:extLst>
          </p:cNvPr>
          <p:cNvSpPr/>
          <p:nvPr/>
        </p:nvSpPr>
        <p:spPr>
          <a:xfrm>
            <a:off x="3154680" y="3429000"/>
            <a:ext cx="7223760" cy="20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0000"/>
                </a:solidFill>
                <a:cs typeface="Arial"/>
              </a:rPr>
              <a:t>Actions</a:t>
            </a:r>
            <a:r>
              <a:rPr lang="en-US" sz="1600" dirty="0">
                <a:solidFill>
                  <a:srgbClr val="000000"/>
                </a:solidFill>
                <a:cs typeface="Arial"/>
              </a:rPr>
              <a:t> </a:t>
            </a:r>
            <a:endParaRPr lang="en-US" sz="1600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cs typeface="Arial"/>
              </a:rPr>
              <a:t>Literature Survey, Experiment Design, Execution, Evaluation, Write-up</a:t>
            </a:r>
            <a:endParaRPr lang="en-US" sz="1600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0000"/>
                </a:solidFill>
                <a:cs typeface="Arial"/>
              </a:rPr>
              <a:t>Context/Planning</a:t>
            </a:r>
            <a:r>
              <a:rPr lang="en-US" sz="1600" dirty="0">
                <a:solidFill>
                  <a:srgbClr val="000000"/>
                </a:solidFill>
                <a:cs typeface="Arial"/>
              </a:rPr>
              <a:t> </a:t>
            </a:r>
            <a:endParaRPr lang="en-US" sz="1600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000000"/>
                </a:solidFill>
                <a:cs typeface="Arial"/>
              </a:rPr>
              <a:t>Queues e.g. FIFO, prompt history, log, memory </a:t>
            </a:r>
            <a:endParaRPr lang="en-US" sz="1600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0000"/>
                </a:solidFill>
                <a:cs typeface="Arial"/>
              </a:rPr>
              <a:t>Tools</a:t>
            </a:r>
            <a:endParaRPr lang="en-US" sz="1600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000000"/>
                </a:solidFill>
                <a:cs typeface="Arial"/>
              </a:rPr>
              <a:t>Semantic Scholar/</a:t>
            </a:r>
            <a:r>
              <a:rPr lang="en-US" sz="1600" dirty="0" err="1">
                <a:solidFill>
                  <a:srgbClr val="000000"/>
                </a:solidFill>
                <a:cs typeface="Arial"/>
              </a:rPr>
              <a:t>ArXiv</a:t>
            </a:r>
            <a:r>
              <a:rPr lang="en-US" sz="1600" dirty="0">
                <a:solidFill>
                  <a:srgbClr val="000000"/>
                </a:solidFill>
                <a:cs typeface="Arial"/>
              </a:rPr>
              <a:t>  API/MCP   Python/Bash   Latex</a:t>
            </a:r>
            <a:endParaRPr lang="en-US" sz="1600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0000"/>
                </a:solidFill>
                <a:cs typeface="Arial"/>
              </a:rPr>
              <a:t>Safety Net</a:t>
            </a:r>
            <a:endParaRPr lang="en-US" sz="1600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cs typeface="Arial"/>
              </a:rPr>
              <a:t>Regex, grep – check GenAI/LLM text/string exist in </a:t>
            </a:r>
            <a:r>
              <a:rPr lang="en-US" sz="1600" dirty="0">
                <a:solidFill>
                  <a:srgbClr val="000000"/>
                </a:solidFill>
                <a:cs typeface="Arial"/>
              </a:rPr>
              <a:t>source</a:t>
            </a:r>
            <a:endParaRPr lang="en-US" sz="1600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0000"/>
                </a:solidFill>
                <a:cs typeface="Arial"/>
              </a:rPr>
              <a:t>Agent Agnostic</a:t>
            </a:r>
            <a:endParaRPr lang="en-US" sz="1600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cs typeface="Arial"/>
              </a:rPr>
              <a:t>Well established workflows that work with any provider</a:t>
            </a:r>
            <a:endParaRPr lang="en-US" sz="1600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sz="1600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solidFill>
                  <a:srgbClr val="000000"/>
                </a:solidFill>
                <a:cs typeface="Arial"/>
              </a:rPr>
              <a:t>Coder becomes Manager (Industry trend)</a:t>
            </a:r>
            <a:endParaRPr lang="en-US" sz="1600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cs typeface="Arial"/>
              </a:rPr>
              <a:t>Directs agents to write, queue and execute prompts</a:t>
            </a:r>
            <a:endParaRPr lang="en-US" sz="16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C08023B-F8C1-9BDF-52C9-0AE6A7961AD9}"/>
              </a:ext>
            </a:extLst>
          </p:cNvPr>
          <p:cNvSpPr/>
          <p:nvPr/>
        </p:nvSpPr>
        <p:spPr>
          <a:xfrm>
            <a:off x="2743200" y="605332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Science and Technology | Hackathons as a Medium for Disseminating Agentic AI in Research</a:t>
            </a:r>
            <a:endParaRPr lang="en-US" sz="8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4F88832-57E7-199A-DC64-A9CF1EEC2F9B}"/>
              </a:ext>
            </a:extLst>
          </p:cNvPr>
          <p:cNvSpPr/>
          <p:nvPr/>
        </p:nvSpPr>
        <p:spPr>
          <a:xfrm>
            <a:off x="2606040" y="64282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Research Day | Lightning talks</a:t>
            </a:r>
            <a:endParaRPr lang="en-US" sz="850"/>
          </a:p>
        </p:txBody>
      </p:sp>
    </p:spTree>
    <p:extLst>
      <p:ext uri="{BB962C8B-B14F-4D97-AF65-F5344CB8AC3E}">
        <p14:creationId xmlns:p14="http://schemas.microsoft.com/office/powerpoint/2010/main" val="968432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E59650-4F15-4313-ED9D-0DF8A0D4A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sheba/Library/CloudStorage/OneDrive-Personal/DITO/outputs/manual-20260602-ai-research-lightning/presentations/ai-research-lightning/assets/csg-sidebar.png">
            <a:extLst>
              <a:ext uri="{FF2B5EF4-FFF2-40B4-BE49-F238E27FC236}">
                <a16:creationId xmlns:a16="http://schemas.microsoft.com/office/drawing/2014/main" id="{3D6C44BC-F363-A037-1629-3B9E50C59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286000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784CF19F-6D07-1AED-E4B5-F6A1A259AE69}"/>
              </a:ext>
            </a:extLst>
          </p:cNvPr>
          <p:cNvSpPr/>
          <p:nvPr/>
        </p:nvSpPr>
        <p:spPr>
          <a:xfrm>
            <a:off x="2286000" y="0"/>
            <a:ext cx="9905695" cy="6858000"/>
          </a:xfrm>
          <a:prstGeom prst="rect">
            <a:avLst/>
          </a:prstGeom>
          <a:solidFill>
            <a:srgbClr val="F7F3EF"/>
          </a:solidFill>
          <a:ln w="12700">
            <a:solidFill>
              <a:srgbClr val="F7F3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F20FA93F-1A3F-447E-3A5E-76A5401CE148}"/>
              </a:ext>
            </a:extLst>
          </p:cNvPr>
          <p:cNvSpPr/>
          <p:nvPr/>
        </p:nvSpPr>
        <p:spPr>
          <a:xfrm>
            <a:off x="2286000" y="0"/>
            <a:ext cx="9905695" cy="1554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D48F8EA-2BB3-33C5-45D6-F93A67F0A168}"/>
              </a:ext>
            </a:extLst>
          </p:cNvPr>
          <p:cNvSpPr/>
          <p:nvPr/>
        </p:nvSpPr>
        <p:spPr>
          <a:xfrm>
            <a:off x="274320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Lightning talk 10 | Daniel Sikar and Dave Muir</a:t>
            </a:r>
            <a:endParaRPr lang="en-US" sz="95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593A135-72A2-9A9E-023D-12CB9D292030}"/>
              </a:ext>
            </a:extLst>
          </p:cNvPr>
          <p:cNvSpPr/>
          <p:nvPr/>
        </p:nvSpPr>
        <p:spPr>
          <a:xfrm>
            <a:off x="2743200" y="749808"/>
            <a:ext cx="8183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800" b="1">
                <a:solidFill>
                  <a:srgbClr val="000000"/>
                </a:solidFill>
                <a:latin typeface="Arial"/>
              </a:rPr>
              <a:t>Case Study – Clinical </a:t>
            </a:r>
            <a:r>
              <a:rPr lang="en-US" sz="2800" b="1" i="0" u="none" strike="noStrike" baseline="0">
                <a:solidFill>
                  <a:srgbClr val="000000"/>
                </a:solidFill>
                <a:latin typeface="Arial"/>
              </a:rPr>
              <a:t>AI</a:t>
            </a:r>
            <a:r>
              <a:rPr lang="en-US" sz="2800" b="1">
                <a:solidFill>
                  <a:srgbClr val="000000"/>
                </a:solidFill>
                <a:latin typeface="Arial"/>
              </a:rPr>
              <a:t> Hackathon</a:t>
            </a:r>
            <a:endParaRPr lang="en-US" sz="2800">
              <a:latin typeface="Arial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A4A64A5-C827-BCAE-8CA3-5D574D56E840}"/>
              </a:ext>
            </a:extLst>
          </p:cNvPr>
          <p:cNvSpPr/>
          <p:nvPr/>
        </p:nvSpPr>
        <p:spPr>
          <a:xfrm>
            <a:off x="2743200" y="1417320"/>
            <a:ext cx="81838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FF45834-2870-3485-D9F0-7A85540BB0F7}"/>
              </a:ext>
            </a:extLst>
          </p:cNvPr>
          <p:cNvSpPr/>
          <p:nvPr/>
        </p:nvSpPr>
        <p:spPr>
          <a:xfrm>
            <a:off x="3154680" y="30175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b="1" dirty="0">
              <a:solidFill>
                <a:srgbClr val="B5A9A1"/>
              </a:solidFill>
              <a:cs typeface="Arial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D395FA5-9690-5257-4EEC-C61EFFF7E30B}"/>
              </a:ext>
            </a:extLst>
          </p:cNvPr>
          <p:cNvSpPr/>
          <p:nvPr/>
        </p:nvSpPr>
        <p:spPr>
          <a:xfrm>
            <a:off x="3154680" y="3429000"/>
            <a:ext cx="7223760" cy="20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00"/>
                </a:solidFill>
                <a:cs typeface="Arial"/>
              </a:rPr>
              <a:t>MOD/NHS Clinical pain point</a:t>
            </a:r>
            <a:endParaRPr lang="en-US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cs typeface="Arial"/>
              </a:rPr>
              <a:t>Structure semi-structured medical notes</a:t>
            </a:r>
            <a:endParaRPr lang="en-US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00"/>
                </a:solidFill>
                <a:cs typeface="Arial"/>
              </a:rPr>
              <a:t>Training and baseline solution provided</a:t>
            </a:r>
            <a:endParaRPr lang="en-US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cs typeface="Arial"/>
              </a:rPr>
              <a:t>To be improved, with the use of AI Agents, by participating teams</a:t>
            </a:r>
            <a:endParaRPr lang="en-US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00"/>
                </a:solidFill>
                <a:cs typeface="Arial"/>
              </a:rPr>
              <a:t>Numbers</a:t>
            </a:r>
            <a:endParaRPr lang="en-US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cs typeface="Arial"/>
              </a:rPr>
              <a:t>76 sign-ups (majority PG), 32 finalists, 9 teams</a:t>
            </a:r>
            <a:endParaRPr lang="en-US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00"/>
                </a:solidFill>
                <a:cs typeface="Arial"/>
              </a:rPr>
              <a:t>Outcomes</a:t>
            </a:r>
            <a:endParaRPr lang="en-US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cs typeface="Arial"/>
              </a:rPr>
              <a:t>Generated two research placements at St George's NHS Foundation Trust</a:t>
            </a:r>
            <a:endParaRPr lang="en-US">
              <a:solidFill>
                <a:srgbClr val="595959"/>
              </a:solidFill>
              <a:cs typeface="Arial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BC0D03F-AF30-C82A-981A-3F2B2594A079}"/>
              </a:ext>
            </a:extLst>
          </p:cNvPr>
          <p:cNvSpPr/>
          <p:nvPr/>
        </p:nvSpPr>
        <p:spPr>
          <a:xfrm>
            <a:off x="2743200" y="605332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Science and Technology | Hackathons as a Medium for Disseminating Agentic AI in Research</a:t>
            </a:r>
            <a:endParaRPr lang="en-US" sz="8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DB8D573-2731-5F0E-5AD9-8C2761BBD257}"/>
              </a:ext>
            </a:extLst>
          </p:cNvPr>
          <p:cNvSpPr/>
          <p:nvPr/>
        </p:nvSpPr>
        <p:spPr>
          <a:xfrm>
            <a:off x="2606040" y="64282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Research Day | Lightning talks</a:t>
            </a:r>
            <a:endParaRPr lang="en-US" sz="8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EBAD93E-2070-3B21-A2EA-89B5D5E665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676"/>
          <a:stretch>
            <a:fillRect/>
          </a:stretch>
        </p:blipFill>
        <p:spPr>
          <a:xfrm>
            <a:off x="9908533" y="153210"/>
            <a:ext cx="2280933" cy="1264804"/>
          </a:xfrm>
          <a:prstGeom prst="rect">
            <a:avLst/>
          </a:prstGeom>
        </p:spPr>
      </p:pic>
      <p:pic>
        <p:nvPicPr>
          <p:cNvPr id="13" name="Picture 12" descr="A close-up of a number&#10;&#10;AI-generated content may be incorrect.">
            <a:extLst>
              <a:ext uri="{FF2B5EF4-FFF2-40B4-BE49-F238E27FC236}">
                <a16:creationId xmlns:a16="http://schemas.microsoft.com/office/drawing/2014/main" id="{E31824FB-4D20-D57B-5253-23538B7327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80" b="870"/>
          <a:stretch>
            <a:fillRect/>
          </a:stretch>
        </p:blipFill>
        <p:spPr>
          <a:xfrm>
            <a:off x="2857195" y="2159641"/>
            <a:ext cx="3698562" cy="764817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BAD42477-DF56-59AE-73C1-26DB3A096101}"/>
              </a:ext>
            </a:extLst>
          </p:cNvPr>
          <p:cNvSpPr/>
          <p:nvPr/>
        </p:nvSpPr>
        <p:spPr>
          <a:xfrm>
            <a:off x="6642905" y="2346260"/>
            <a:ext cx="646141" cy="39159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AD4999-75B6-5C1B-8102-906681EC225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-198" b="935"/>
          <a:stretch>
            <a:fillRect/>
          </a:stretch>
        </p:blipFill>
        <p:spPr>
          <a:xfrm>
            <a:off x="7393224" y="2155791"/>
            <a:ext cx="3378527" cy="70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51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5460EA-9870-0DD8-6AB1-0F20F2A67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sheba/Library/CloudStorage/OneDrive-Personal/DITO/outputs/manual-20260602-ai-research-lightning/presentations/ai-research-lightning/assets/csg-sidebar.png">
            <a:extLst>
              <a:ext uri="{FF2B5EF4-FFF2-40B4-BE49-F238E27FC236}">
                <a16:creationId xmlns:a16="http://schemas.microsoft.com/office/drawing/2014/main" id="{97AEEDC1-DACA-09BA-05AE-6081C0197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286000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4D4F1644-21CE-AB6D-89E9-2C2A60A59CF0}"/>
              </a:ext>
            </a:extLst>
          </p:cNvPr>
          <p:cNvSpPr/>
          <p:nvPr/>
        </p:nvSpPr>
        <p:spPr>
          <a:xfrm>
            <a:off x="2286000" y="0"/>
            <a:ext cx="9905695" cy="6858000"/>
          </a:xfrm>
          <a:prstGeom prst="rect">
            <a:avLst/>
          </a:prstGeom>
          <a:solidFill>
            <a:srgbClr val="F7F3EF"/>
          </a:solidFill>
          <a:ln w="12700">
            <a:solidFill>
              <a:srgbClr val="F7F3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F1F578DB-B5F9-9333-1CF4-2600786AF3A9}"/>
              </a:ext>
            </a:extLst>
          </p:cNvPr>
          <p:cNvSpPr/>
          <p:nvPr/>
        </p:nvSpPr>
        <p:spPr>
          <a:xfrm>
            <a:off x="2286000" y="0"/>
            <a:ext cx="9905695" cy="1554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EB4E2E1-A42A-B5C1-A73C-E9ED23A512B3}"/>
              </a:ext>
            </a:extLst>
          </p:cNvPr>
          <p:cNvSpPr/>
          <p:nvPr/>
        </p:nvSpPr>
        <p:spPr>
          <a:xfrm>
            <a:off x="274320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Lightning talk 10 | Daniel Sikar and Dave Muir</a:t>
            </a:r>
            <a:endParaRPr lang="en-US" sz="95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F7686E5-C656-1DF0-CCB9-609BD41ADC1A}"/>
              </a:ext>
            </a:extLst>
          </p:cNvPr>
          <p:cNvSpPr/>
          <p:nvPr/>
        </p:nvSpPr>
        <p:spPr>
          <a:xfrm>
            <a:off x="2734340" y="643483"/>
            <a:ext cx="9016762" cy="67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000000"/>
                </a:solidFill>
                <a:latin typeface="Arial"/>
              </a:rPr>
              <a:t>Research </a:t>
            </a:r>
            <a:r>
              <a:rPr lang="en-US" sz="2800" b="1">
                <a:solidFill>
                  <a:srgbClr val="000000"/>
                </a:solidFill>
                <a:latin typeface="Arial"/>
              </a:rPr>
              <a:t>Projects</a:t>
            </a:r>
            <a:r>
              <a:rPr lang="en-US" sz="2800" b="1" dirty="0">
                <a:solidFill>
                  <a:srgbClr val="000000"/>
                </a:solidFill>
                <a:latin typeface="Arial"/>
              </a:rPr>
              <a:t> at St George's</a:t>
            </a:r>
            <a:br>
              <a:rPr lang="en-US" sz="2800" b="1" dirty="0">
                <a:solidFill>
                  <a:srgbClr val="000000"/>
                </a:solidFill>
                <a:latin typeface="Arial"/>
              </a:rPr>
            </a:br>
            <a:r>
              <a:rPr lang="en-US" sz="2800" b="1" dirty="0">
                <a:solidFill>
                  <a:srgbClr val="000000"/>
                </a:solidFill>
                <a:latin typeface="Arial"/>
              </a:rPr>
              <a:t>NHS Foundation Trust</a:t>
            </a:r>
            <a:endParaRPr lang="en-US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899D4A2-73FD-A350-88F2-0D18A0930D9F}"/>
              </a:ext>
            </a:extLst>
          </p:cNvPr>
          <p:cNvSpPr/>
          <p:nvPr/>
        </p:nvSpPr>
        <p:spPr>
          <a:xfrm>
            <a:off x="2743200" y="1417320"/>
            <a:ext cx="81838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0D06663-9153-288F-EC52-92E0A1B893CC}"/>
              </a:ext>
            </a:extLst>
          </p:cNvPr>
          <p:cNvSpPr/>
          <p:nvPr/>
        </p:nvSpPr>
        <p:spPr>
          <a:xfrm>
            <a:off x="3154680" y="30175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b="1" dirty="0">
              <a:solidFill>
                <a:srgbClr val="B5A9A1"/>
              </a:solidFill>
              <a:cs typeface="Arial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6FB0C79-8A70-3EAF-EC8F-E034604F5CFE}"/>
              </a:ext>
            </a:extLst>
          </p:cNvPr>
          <p:cNvSpPr/>
          <p:nvPr/>
        </p:nvSpPr>
        <p:spPr>
          <a:xfrm>
            <a:off x="3154680" y="3429000"/>
            <a:ext cx="7223760" cy="20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00"/>
                </a:solidFill>
                <a:cs typeface="Arial"/>
              </a:rPr>
              <a:t>Monitoring AI for Performance Drift:</a:t>
            </a:r>
            <a:r>
              <a:rPr lang="en-US">
                <a:solidFill>
                  <a:srgbClr val="000000"/>
                </a:solidFill>
                <a:cs typeface="Arial"/>
              </a:rPr>
              <a:t> Developing an independent quality assurance framework to identify when radiology AI performance changes over time, enabling early detection of reliability issues in clinical practice.</a:t>
            </a:r>
            <a:endParaRPr lang="en-US"/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00"/>
                </a:solidFill>
                <a:cs typeface="Arial"/>
              </a:rPr>
              <a:t>Evaluating Subgroup Bias:</a:t>
            </a:r>
            <a:r>
              <a:rPr lang="en-US">
                <a:solidFill>
                  <a:srgbClr val="000000"/>
                </a:solidFill>
                <a:cs typeface="Arial"/>
              </a:rPr>
              <a:t> Developing an independent assessment framework to identify whether radiology AI performs differently across patient groups, supporting fair, safe, and accountable clinical deployment.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E774EE5-C127-1115-0B40-0E21EB170D91}"/>
              </a:ext>
            </a:extLst>
          </p:cNvPr>
          <p:cNvSpPr/>
          <p:nvPr/>
        </p:nvSpPr>
        <p:spPr>
          <a:xfrm>
            <a:off x="2743200" y="605332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Science and Technology | Hackathons as a Medium for Disseminating Agentic AI in Research</a:t>
            </a:r>
            <a:endParaRPr lang="en-US" sz="8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286C2C8-C665-50D8-260D-BC96BB77C2D1}"/>
              </a:ext>
            </a:extLst>
          </p:cNvPr>
          <p:cNvSpPr/>
          <p:nvPr/>
        </p:nvSpPr>
        <p:spPr>
          <a:xfrm>
            <a:off x="2606040" y="64282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Research Day | Lightning talks</a:t>
            </a:r>
            <a:endParaRPr lang="en-US" sz="8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A1616B-B26C-8770-742B-C242C91B8C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676"/>
          <a:stretch>
            <a:fillRect/>
          </a:stretch>
        </p:blipFill>
        <p:spPr>
          <a:xfrm>
            <a:off x="9908533" y="153210"/>
            <a:ext cx="2280933" cy="126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24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14DCB1-C099-F8C5-BAAE-D62B79BB6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sheba/Library/CloudStorage/OneDrive-Personal/DITO/outputs/manual-20260602-ai-research-lightning/presentations/ai-research-lightning/assets/csg-sidebar.png">
            <a:extLst>
              <a:ext uri="{FF2B5EF4-FFF2-40B4-BE49-F238E27FC236}">
                <a16:creationId xmlns:a16="http://schemas.microsoft.com/office/drawing/2014/main" id="{206F42CF-D771-173C-8568-E88AAA141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286000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EF14FB81-83D7-C022-B33A-0E9B401C0F69}"/>
              </a:ext>
            </a:extLst>
          </p:cNvPr>
          <p:cNvSpPr/>
          <p:nvPr/>
        </p:nvSpPr>
        <p:spPr>
          <a:xfrm>
            <a:off x="2286000" y="0"/>
            <a:ext cx="9905695" cy="6858000"/>
          </a:xfrm>
          <a:prstGeom prst="rect">
            <a:avLst/>
          </a:prstGeom>
          <a:solidFill>
            <a:srgbClr val="F7F3EF"/>
          </a:solidFill>
          <a:ln w="12700">
            <a:solidFill>
              <a:srgbClr val="F7F3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9FCD221-50A0-09A9-CB84-B9DAD0C1B990}"/>
              </a:ext>
            </a:extLst>
          </p:cNvPr>
          <p:cNvSpPr/>
          <p:nvPr/>
        </p:nvSpPr>
        <p:spPr>
          <a:xfrm>
            <a:off x="2286000" y="0"/>
            <a:ext cx="9905695" cy="1554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CCCEA42-CDD2-BFAA-F215-FB7EFE453CDD}"/>
              </a:ext>
            </a:extLst>
          </p:cNvPr>
          <p:cNvSpPr/>
          <p:nvPr/>
        </p:nvSpPr>
        <p:spPr>
          <a:xfrm>
            <a:off x="274320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Lightning talk 10 | Daniel Sikar and Dave Muir</a:t>
            </a:r>
            <a:endParaRPr lang="en-US" sz="95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81FDEB-7A22-A209-5BE4-E7486C271EC9}"/>
              </a:ext>
            </a:extLst>
          </p:cNvPr>
          <p:cNvSpPr/>
          <p:nvPr/>
        </p:nvSpPr>
        <p:spPr>
          <a:xfrm>
            <a:off x="2743200" y="749808"/>
            <a:ext cx="8183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800" b="1">
                <a:solidFill>
                  <a:srgbClr val="000000"/>
                </a:solidFill>
                <a:latin typeface="Arial"/>
              </a:rPr>
              <a:t>Clinical </a:t>
            </a:r>
            <a:r>
              <a:rPr lang="en-US" sz="2800" b="1" i="0" u="none" strike="noStrike" baseline="0">
                <a:solidFill>
                  <a:srgbClr val="000000"/>
                </a:solidFill>
                <a:latin typeface="Arial"/>
              </a:rPr>
              <a:t>AI</a:t>
            </a:r>
            <a:r>
              <a:rPr lang="en-US" sz="2800" b="1">
                <a:solidFill>
                  <a:srgbClr val="000000"/>
                </a:solidFill>
                <a:latin typeface="Arial"/>
              </a:rPr>
              <a:t> Hackathon – Lessons learnt</a:t>
            </a:r>
            <a:endParaRPr lang="en-US" sz="2800">
              <a:latin typeface="Arial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4B91B65-FD4D-19C3-D25A-54532CFDCECB}"/>
              </a:ext>
            </a:extLst>
          </p:cNvPr>
          <p:cNvSpPr/>
          <p:nvPr/>
        </p:nvSpPr>
        <p:spPr>
          <a:xfrm>
            <a:off x="2743200" y="1417320"/>
            <a:ext cx="81838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9E8756E-B01C-18E1-AAA1-B145A29AF9D9}"/>
              </a:ext>
            </a:extLst>
          </p:cNvPr>
          <p:cNvSpPr/>
          <p:nvPr/>
        </p:nvSpPr>
        <p:spPr>
          <a:xfrm>
            <a:off x="3154680" y="30175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b="1" dirty="0">
              <a:solidFill>
                <a:srgbClr val="B5A9A1"/>
              </a:solidFill>
              <a:cs typeface="Arial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3E0AECA-90F8-644A-A912-AF0DD2207BBF}"/>
              </a:ext>
            </a:extLst>
          </p:cNvPr>
          <p:cNvSpPr/>
          <p:nvPr/>
        </p:nvSpPr>
        <p:spPr>
          <a:xfrm>
            <a:off x="3154680" y="3429000"/>
            <a:ext cx="7223760" cy="20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00"/>
                </a:solidFill>
                <a:cs typeface="Arial"/>
              </a:rPr>
              <a:t>Healthcare is highly-regulated</a:t>
            </a:r>
            <a:endParaRPr lang="en-US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cs typeface="Arial"/>
              </a:rPr>
              <a:t>Solutions are much easier to write </a:t>
            </a:r>
            <a:r>
              <a:rPr lang="en-US">
                <a:solidFill>
                  <a:srgbClr val="000000"/>
                </a:solidFill>
                <a:cs typeface="Arial"/>
              </a:rPr>
              <a:t>than to </a:t>
            </a:r>
            <a:r>
              <a:rPr lang="en-US" dirty="0">
                <a:solidFill>
                  <a:srgbClr val="000000"/>
                </a:solidFill>
                <a:cs typeface="Arial"/>
              </a:rPr>
              <a:t>deploy (certification)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00"/>
                </a:solidFill>
                <a:cs typeface="Arial"/>
              </a:rPr>
              <a:t>Solutions inspired higher trust in Generative AI</a:t>
            </a:r>
            <a:endParaRPr lang="en-US" b="1" dirty="0">
              <a:solidFill>
                <a:srgbClr val="000000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cs typeface="Arial"/>
              </a:rPr>
              <a:t>Clinicians confident enough to agree on further deployment of Agentic </a:t>
            </a:r>
            <a:r>
              <a:rPr lang="en-US">
                <a:solidFill>
                  <a:srgbClr val="000000"/>
                </a:solidFill>
                <a:cs typeface="Arial"/>
              </a:rPr>
              <a:t>AI in research</a:t>
            </a:r>
            <a:endParaRPr lang="en-US" dirty="0">
              <a:solidFill>
                <a:srgbClr val="000000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00"/>
                </a:solidFill>
                <a:cs typeface="Arial"/>
              </a:rPr>
              <a:t>The sky is the limit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dirty="0">
                <a:ea typeface="+mn-lt"/>
                <a:cs typeface="+mn-lt"/>
              </a:rPr>
              <a:t>"I think entrepreneurs should be more ambitious about the problems they're going after. If the AI capability you need doesn't exist today, there's a reasonable chance it will in three to six months. So the limiting factor really shouldn't be what the technology can do right now."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>
                <a:cs typeface="Arial"/>
              </a:rPr>
              <a:t>Dario Amodei</a:t>
            </a:r>
            <a:endParaRPr lang="en-US" dirty="0">
              <a:cs typeface="Arial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B78389E-C855-345F-9582-C3580DDC4122}"/>
              </a:ext>
            </a:extLst>
          </p:cNvPr>
          <p:cNvSpPr/>
          <p:nvPr/>
        </p:nvSpPr>
        <p:spPr>
          <a:xfrm>
            <a:off x="2743200" y="605332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Science and Technology | Hackathons as a Medium for Disseminating Agentic AI in Research</a:t>
            </a:r>
            <a:endParaRPr lang="en-US" sz="8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7C7DEB3-F486-E771-5F8E-2F6CCEC0159C}"/>
              </a:ext>
            </a:extLst>
          </p:cNvPr>
          <p:cNvSpPr/>
          <p:nvPr/>
        </p:nvSpPr>
        <p:spPr>
          <a:xfrm>
            <a:off x="2606040" y="64282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Research Day | Lightning talks</a:t>
            </a:r>
            <a:endParaRPr lang="en-US" sz="8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059AF9-44BC-E900-9ED6-1A682F6F37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676"/>
          <a:stretch>
            <a:fillRect/>
          </a:stretch>
        </p:blipFill>
        <p:spPr>
          <a:xfrm>
            <a:off x="9908533" y="153210"/>
            <a:ext cx="2280933" cy="126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155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1C7C95-6CA1-84E8-7D39-E0350C413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sheba/Library/CloudStorage/OneDrive-Personal/DITO/outputs/manual-20260602-ai-research-lightning/presentations/ai-research-lightning/assets/csg-sidebar.png">
            <a:extLst>
              <a:ext uri="{FF2B5EF4-FFF2-40B4-BE49-F238E27FC236}">
                <a16:creationId xmlns:a16="http://schemas.microsoft.com/office/drawing/2014/main" id="{D27A2D63-4A2A-3204-8001-6A9F8EC5A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286000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BAB74286-93B0-D7EF-81A9-4621BEEAF57B}"/>
              </a:ext>
            </a:extLst>
          </p:cNvPr>
          <p:cNvSpPr/>
          <p:nvPr/>
        </p:nvSpPr>
        <p:spPr>
          <a:xfrm>
            <a:off x="2286000" y="0"/>
            <a:ext cx="9905695" cy="6858000"/>
          </a:xfrm>
          <a:prstGeom prst="rect">
            <a:avLst/>
          </a:prstGeom>
          <a:solidFill>
            <a:srgbClr val="F7F3EF"/>
          </a:solidFill>
          <a:ln w="12700">
            <a:solidFill>
              <a:srgbClr val="F7F3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5DC7A622-14EE-87D1-240E-A3709B3D7690}"/>
              </a:ext>
            </a:extLst>
          </p:cNvPr>
          <p:cNvSpPr/>
          <p:nvPr/>
        </p:nvSpPr>
        <p:spPr>
          <a:xfrm>
            <a:off x="2286000" y="0"/>
            <a:ext cx="9905695" cy="1554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D9C2DC6-ED7C-22E4-8EF7-D2B0CB067669}"/>
              </a:ext>
            </a:extLst>
          </p:cNvPr>
          <p:cNvSpPr/>
          <p:nvPr/>
        </p:nvSpPr>
        <p:spPr>
          <a:xfrm>
            <a:off x="2743200" y="3840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D71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Lightning talk 10 | Daniel Sikar and Dave Muir</a:t>
            </a:r>
            <a:endParaRPr lang="en-US" sz="95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8F4757-A5AC-FE50-DA41-B30CFBF6A482}"/>
              </a:ext>
            </a:extLst>
          </p:cNvPr>
          <p:cNvSpPr/>
          <p:nvPr/>
        </p:nvSpPr>
        <p:spPr>
          <a:xfrm>
            <a:off x="2743200" y="749808"/>
            <a:ext cx="8183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800" b="1">
                <a:latin typeface="Arial"/>
              </a:rPr>
              <a:t>What happens next</a:t>
            </a:r>
            <a:r>
              <a:rPr lang="en-US" sz="2800" b="1" i="0">
                <a:latin typeface="Arial"/>
              </a:rPr>
              <a:t>​</a:t>
            </a:r>
            <a:endParaRPr lang="en-US" sz="2700" b="1">
              <a:cs typeface="Arial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6426917-9A37-5DF3-A876-3132AE454718}"/>
              </a:ext>
            </a:extLst>
          </p:cNvPr>
          <p:cNvSpPr/>
          <p:nvPr/>
        </p:nvSpPr>
        <p:spPr>
          <a:xfrm>
            <a:off x="2743200" y="1417320"/>
            <a:ext cx="81838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48289EF-F9E3-EB88-A624-2348B51E9A91}"/>
              </a:ext>
            </a:extLst>
          </p:cNvPr>
          <p:cNvSpPr/>
          <p:nvPr/>
        </p:nvSpPr>
        <p:spPr>
          <a:xfrm>
            <a:off x="3154680" y="30175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b="1" dirty="0">
              <a:solidFill>
                <a:srgbClr val="B5A9A1"/>
              </a:solidFill>
              <a:cs typeface="Arial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83BD66C-0E7C-B296-90B9-2FB259E1FC6C}"/>
              </a:ext>
            </a:extLst>
          </p:cNvPr>
          <p:cNvSpPr/>
          <p:nvPr/>
        </p:nvSpPr>
        <p:spPr>
          <a:xfrm>
            <a:off x="3154680" y="3429000"/>
            <a:ext cx="7223760" cy="20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rgbClr val="000000"/>
                </a:solidFill>
                <a:latin typeface="Aptos"/>
                <a:cs typeface="Arial"/>
              </a:rPr>
              <a:t>ElectroAI</a:t>
            </a:r>
            <a:r>
              <a:rPr lang="en-US" b="1" dirty="0">
                <a:solidFill>
                  <a:srgbClr val="000000"/>
                </a:solidFill>
                <a:latin typeface="Aptos"/>
                <a:cs typeface="Arial"/>
              </a:rPr>
              <a:t> Hackathon</a:t>
            </a:r>
            <a:endParaRPr lang="en-US" dirty="0">
              <a:solidFill>
                <a:srgbClr val="595959"/>
              </a:solidFill>
              <a:latin typeface="Aptos"/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595959"/>
                </a:solidFill>
                <a:latin typeface="Aptos"/>
                <a:cs typeface="Arial"/>
              </a:rPr>
              <a:t>City St George's, University of London 07-10.04.2026</a:t>
            </a:r>
            <a:endParaRPr lang="en-US"/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595959"/>
              </a:solidFill>
              <a:latin typeface="Aptos"/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595959"/>
                </a:solidFill>
                <a:cs typeface="Arial"/>
              </a:rPr>
              <a:t>British Computer Society-backed AI Levelling-up Hackathon</a:t>
            </a:r>
            <a:endParaRPr lang="en-US">
              <a:solidFill>
                <a:srgbClr val="B5A9A1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595959"/>
                </a:solidFill>
                <a:cs typeface="Arial"/>
              </a:rPr>
              <a:t>City St George's, University of London 30.06-01.07.2026</a:t>
            </a:r>
            <a:endParaRPr lang="en-US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B5A9A1"/>
              </a:solidFill>
              <a:cs typeface="Arial"/>
            </a:endParaRPr>
          </a:p>
          <a:p>
            <a:r>
              <a:rPr lang="en-US" b="1"/>
              <a:t>Learning at City St George’s Conference 2026 </a:t>
            </a:r>
            <a:r>
              <a:rPr lang="en-US" b="1">
                <a:latin typeface="Aptos"/>
              </a:rPr>
              <a:t>– Snap Circuits Workshop</a:t>
            </a:r>
            <a:endParaRPr lang="en-US">
              <a:latin typeface="Aptos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595959"/>
                </a:solidFill>
                <a:cs typeface="Arial"/>
              </a:rPr>
              <a:t>City St George's, University of London 30.06.2026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595959"/>
              </a:solidFill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595959"/>
                </a:solidFill>
                <a:cs typeface="Arial"/>
              </a:rPr>
              <a:t>Slides, contacts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595959"/>
                </a:solidFill>
                <a:latin typeface="Aptos"/>
                <a:cs typeface="Arial"/>
              </a:rPr>
              <a:t>Please scan QR code or visit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595959"/>
                </a:solidFill>
                <a:ea typeface="+mn-lt"/>
                <a:cs typeface="+mn-lt"/>
              </a:rPr>
              <a:t>https://github.com/dsikar/csg-ai-research-day-2026</a:t>
            </a:r>
            <a:endParaRPr lang="en-US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581B2B2-B84C-7C86-908B-0C5D398113F0}"/>
              </a:ext>
            </a:extLst>
          </p:cNvPr>
          <p:cNvSpPr/>
          <p:nvPr/>
        </p:nvSpPr>
        <p:spPr>
          <a:xfrm>
            <a:off x="2743200" y="605332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Science and Technology | Hackathons as a Medium for Disseminating Agentic AI in Research</a:t>
            </a:r>
            <a:endParaRPr lang="en-US" sz="8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76537A1-BDB2-1930-7F2C-46A1F0B4D869}"/>
              </a:ext>
            </a:extLst>
          </p:cNvPr>
          <p:cNvSpPr/>
          <p:nvPr/>
        </p:nvSpPr>
        <p:spPr>
          <a:xfrm>
            <a:off x="2606040" y="64282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Research Day | Lightning talks</a:t>
            </a:r>
            <a:endParaRPr lang="en-US" sz="850"/>
          </a:p>
        </p:txBody>
      </p:sp>
      <p:pic>
        <p:nvPicPr>
          <p:cNvPr id="12" name="Picture 11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422127EF-772A-AA4F-BD6B-8C5C4B4C0B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457" b="452"/>
          <a:stretch>
            <a:fillRect/>
          </a:stretch>
        </p:blipFill>
        <p:spPr>
          <a:xfrm>
            <a:off x="8992929" y="3866818"/>
            <a:ext cx="1798877" cy="179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528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</cp:revision>
  <dcterms:created xsi:type="dcterms:W3CDTF">2026-06-18T19:53:41Z</dcterms:created>
  <dcterms:modified xsi:type="dcterms:W3CDTF">2026-06-18T20:43:32Z</dcterms:modified>
</cp:coreProperties>
</file>